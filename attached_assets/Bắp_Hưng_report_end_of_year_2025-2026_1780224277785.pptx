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9" r:id="rId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2172" y="7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1D616B-444B-4413-A0CE-33B9FC1ED959}"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2464150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D616B-444B-4413-A0CE-33B9FC1ED959}"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795118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1D616B-444B-4413-A0CE-33B9FC1ED959}"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3797823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1D616B-444B-4413-A0CE-33B9FC1ED959}"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2970740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D616B-444B-4413-A0CE-33B9FC1ED959}"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36540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1D616B-444B-4413-A0CE-33B9FC1ED959}"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2718721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D616B-444B-4413-A0CE-33B9FC1ED959}"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643260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D616B-444B-4413-A0CE-33B9FC1ED959}"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2301627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D616B-444B-4413-A0CE-33B9FC1ED959}"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297610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D616B-444B-4413-A0CE-33B9FC1ED959}"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3200391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D616B-444B-4413-A0CE-33B9FC1ED959}"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7270FC-A931-4E82-BB18-179A1354CC31}" type="slidenum">
              <a:rPr lang="en-US" smtClean="0"/>
              <a:t>‹#›</a:t>
            </a:fld>
            <a:endParaRPr lang="en-US"/>
          </a:p>
        </p:txBody>
      </p:sp>
    </p:spTree>
    <p:extLst>
      <p:ext uri="{BB962C8B-B14F-4D97-AF65-F5344CB8AC3E}">
        <p14:creationId xmlns:p14="http://schemas.microsoft.com/office/powerpoint/2010/main" val="304064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A81D616B-444B-4413-A0CE-33B9FC1ED959}" type="datetimeFigureOut">
              <a:rPr lang="en-US" smtClean="0"/>
              <a:t>5/27/2026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57270FC-A931-4E82-BB18-179A1354CC31}" type="slidenum">
              <a:rPr lang="en-US" smtClean="0"/>
              <a:t>‹#›</a:t>
            </a:fld>
            <a:endParaRPr lang="en-US"/>
          </a:p>
        </p:txBody>
      </p:sp>
    </p:spTree>
    <p:extLst>
      <p:ext uri="{BB962C8B-B14F-4D97-AF65-F5344CB8AC3E}">
        <p14:creationId xmlns:p14="http://schemas.microsoft.com/office/powerpoint/2010/main" val="2581006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imag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176" y="545924"/>
            <a:ext cx="750887" cy="750887"/>
          </a:xfrm>
          <a:prstGeom prst="rect">
            <a:avLst/>
          </a:prstGeom>
          <a:noFill/>
          <a:extLst>
            <a:ext uri="{909E8E84-426E-40DD-AFC4-6F175D3DCCD1}">
              <a14:hiddenFill xmlns:a14="http://schemas.microsoft.com/office/drawing/2010/main">
                <a:solidFill>
                  <a:srgbClr val="FFFFFF"/>
                </a:solidFill>
              </a14:hiddenFill>
            </a:ext>
          </a:extLst>
        </p:spPr>
      </p:pic>
      <p:pic>
        <p:nvPicPr>
          <p:cNvPr id="2049" name="image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000" y="619125"/>
            <a:ext cx="865188" cy="8651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a:spLocks noChangeArrowheads="1"/>
          </p:cNvSpPr>
          <p:nvPr/>
        </p:nvSpPr>
        <p:spPr bwMode="auto">
          <a:xfrm>
            <a:off x="1600200" y="236564"/>
            <a:ext cx="3945696" cy="136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924425" algn="l"/>
              </a:tabLst>
            </a:pPr>
            <a:r>
              <a:rPr kumimoji="0" lang="en-US" sz="1600" b="1" i="0" u="none" strike="noStrike" cap="none" normalizeH="0" baseline="0" dirty="0">
                <a:ln>
                  <a:noFill/>
                </a:ln>
                <a:solidFill>
                  <a:schemeClr val="tx1"/>
                </a:solidFill>
                <a:effectLst/>
                <a:latin typeface="Cambria" pitchFamily="18" charset="0"/>
                <a:ea typeface="Tahoma" pitchFamily="34" charset="0"/>
                <a:cs typeface="Arial" pitchFamily="34" charset="0"/>
              </a:rPr>
              <a:t>STUDENT PERFORMANCE REPORT TEST</a:t>
            </a:r>
          </a:p>
          <a:p>
            <a:pPr marL="0" marR="0" lvl="0" indent="0" algn="l" defTabSz="914400" rtl="0" eaLnBrk="1" fontAlgn="base" latinLnBrk="0" hangingPunct="1">
              <a:lnSpc>
                <a:spcPct val="100000"/>
              </a:lnSpc>
              <a:spcBef>
                <a:spcPct val="0"/>
              </a:spcBef>
              <a:spcAft>
                <a:spcPct val="0"/>
              </a:spcAft>
              <a:buClrTx/>
              <a:buSzTx/>
              <a:buFontTx/>
              <a:buNone/>
              <a:tabLst>
                <a:tab pos="4924425" algn="l"/>
              </a:tabLst>
            </a:pPr>
            <a:endParaRPr kumimoji="0" lang="en-US" sz="600" b="0" i="0" u="none" strike="noStrike" cap="none" normalizeH="0" baseline="0" dirty="0">
              <a:ln>
                <a:noFill/>
              </a:ln>
              <a:solidFill>
                <a:schemeClr val="tx1"/>
              </a:solidFill>
              <a:effectLst/>
              <a:latin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924425" algn="l"/>
              </a:tabLst>
            </a:pPr>
            <a:r>
              <a:rPr kumimoji="0" lang="en-US" sz="1100" b="0" i="1" u="none" strike="noStrike" cap="none" normalizeH="0" baseline="0" dirty="0">
                <a:ln>
                  <a:noFill/>
                </a:ln>
                <a:solidFill>
                  <a:schemeClr val="tx1"/>
                </a:solidFill>
                <a:effectLst/>
                <a:latin typeface="Cambria" pitchFamily="18" charset="0"/>
                <a:ea typeface="Times New Roman" pitchFamily="18" charset="0"/>
                <a:cs typeface="Arial" pitchFamily="34" charset="0"/>
              </a:rPr>
              <a:t>             BẢN NHẬN XÉT ĐÁNH GIÁ NĂNG LỰC HOC SINH</a:t>
            </a:r>
            <a:endParaRPr kumimoji="0" lang="en-US" sz="1100" b="0" i="1" u="none" strike="noStrike" cap="none" normalizeH="0" baseline="0" dirty="0">
              <a:ln>
                <a:noFill/>
              </a:ln>
              <a:solidFill>
                <a:schemeClr val="tx1"/>
              </a:solidFill>
              <a:effectLst/>
              <a:latin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924425" algn="l"/>
              </a:tabLst>
            </a:pPr>
            <a:endParaRPr kumimoji="0" lang="en-US" sz="600" b="0" i="0" u="none" strike="noStrike" cap="none" normalizeH="0" baseline="0" dirty="0">
              <a:ln>
                <a:noFill/>
              </a:ln>
              <a:solidFill>
                <a:schemeClr val="tx1"/>
              </a:solidFill>
              <a:effectLst/>
              <a:latin typeface="Cambria" pitchFamily="18" charset="0"/>
              <a:cs typeface="Arial" pitchFamily="34" charset="0"/>
            </a:endParaRPr>
          </a:p>
          <a:p>
            <a:r>
              <a:rPr lang="en-US" sz="1100" dirty="0">
                <a:latin typeface="Cambria" pitchFamily="18" charset="0"/>
              </a:rPr>
              <a:t>Student Name : </a:t>
            </a:r>
            <a:r>
              <a:rPr lang="vi-VN" sz="1100" dirty="0"/>
              <a:t>Bắp Hưng</a:t>
            </a:r>
            <a:endParaRPr lang="en-US" sz="1100" dirty="0"/>
          </a:p>
          <a:p>
            <a:r>
              <a:rPr lang="en-US" sz="1100" dirty="0">
                <a:latin typeface="Cambria" pitchFamily="18" charset="0"/>
              </a:rPr>
              <a:t>Class: Panda</a:t>
            </a:r>
          </a:p>
          <a:p>
            <a:r>
              <a:rPr lang="en-US" sz="1100" dirty="0">
                <a:latin typeface="Cambria" pitchFamily="18" charset="0"/>
              </a:rPr>
              <a:t>Teacher: ....................................................</a:t>
            </a:r>
          </a:p>
          <a:p>
            <a:r>
              <a:rPr lang="en-US" sz="1100" dirty="0">
                <a:latin typeface="Cambria" pitchFamily="18" charset="0"/>
              </a:rPr>
              <a:t>Date of Assessment: ....................................................</a:t>
            </a:r>
          </a:p>
        </p:txBody>
      </p:sp>
      <p:sp>
        <p:nvSpPr>
          <p:cNvPr id="6" name="Rectangle 5"/>
          <p:cNvSpPr/>
          <p:nvPr/>
        </p:nvSpPr>
        <p:spPr>
          <a:xfrm>
            <a:off x="228606" y="3883074"/>
            <a:ext cx="6248400" cy="1569660"/>
          </a:xfrm>
          <a:prstGeom prst="rect">
            <a:avLst/>
          </a:prstGeom>
        </p:spPr>
        <p:txBody>
          <a:bodyPr wrap="square">
            <a:spAutoFit/>
          </a:bodyPr>
          <a:lstStyle/>
          <a:p>
            <a:r>
              <a:rPr lang="en-US" sz="1200" dirty="0">
                <a:latin typeface="Cambria" pitchFamily="18" charset="0"/>
              </a:rPr>
              <a:t>Vietnamese teacher’s comments:</a:t>
            </a:r>
            <a:br>
              <a:rPr lang="en-US" sz="1200" dirty="0">
                <a:latin typeface="Cambria" pitchFamily="18" charset="0"/>
              </a:rPr>
            </a:br>
            <a:r>
              <a:rPr lang="en-US" sz="1200" dirty="0">
                <a:latin typeface="Cambria" pitchFamily="18" charset="0"/>
              </a:rPr>
              <a:t>…………………………………………………………………………………………………………………………………………………………………………………………………………………………………………………………………………………………………………………………………………………………………………………………………………………………………………………………………………………………………………………………………………………………………………………</a:t>
            </a:r>
          </a:p>
          <a:p>
            <a:br>
              <a:rPr lang="en-US" sz="1200" dirty="0">
                <a:latin typeface="Cambria" pitchFamily="18" charset="0"/>
              </a:rPr>
            </a:br>
            <a:r>
              <a:rPr lang="en-US" sz="1200" dirty="0">
                <a:latin typeface="Cambria" pitchFamily="18" charset="0"/>
              </a:rPr>
              <a:t>Performance Level:</a:t>
            </a:r>
            <a:br>
              <a:rPr lang="en-US" sz="1200" dirty="0">
                <a:latin typeface="Cambria" pitchFamily="18" charset="0"/>
              </a:rPr>
            </a:br>
            <a:r>
              <a:rPr lang="en-US" sz="1200" dirty="0">
                <a:latin typeface="Cambria" pitchFamily="18" charset="0"/>
              </a:rPr>
              <a:t>    Excellent         Good              Satisfactory        Needs Improvement</a:t>
            </a:r>
          </a:p>
        </p:txBody>
      </p:sp>
      <p:sp>
        <p:nvSpPr>
          <p:cNvPr id="2" name="Rectangle 1">
            <a:extLst>
              <a:ext uri="{FF2B5EF4-FFF2-40B4-BE49-F238E27FC236}">
                <a16:creationId xmlns:a16="http://schemas.microsoft.com/office/drawing/2014/main" id="{A165F056-457D-4E25-48A9-7E9FDBBED274}"/>
              </a:ext>
            </a:extLst>
          </p:cNvPr>
          <p:cNvSpPr/>
          <p:nvPr/>
        </p:nvSpPr>
        <p:spPr>
          <a:xfrm>
            <a:off x="254010" y="2500916"/>
            <a:ext cx="6248400" cy="1569660"/>
          </a:xfrm>
          <a:prstGeom prst="rect">
            <a:avLst/>
          </a:prstGeom>
        </p:spPr>
        <p:txBody>
          <a:bodyPr wrap="square">
            <a:spAutoFit/>
          </a:bodyPr>
          <a:lstStyle/>
          <a:p>
            <a:r>
              <a:rPr lang="en-US" sz="1200" b="1" dirty="0">
                <a:latin typeface="Cambria" pitchFamily="18" charset="0"/>
              </a:rPr>
              <a:t>Listening</a:t>
            </a:r>
            <a:r>
              <a:rPr lang="en-US" sz="1200" b="1" i="1" dirty="0">
                <a:latin typeface="Cambria" pitchFamily="18" charset="0"/>
              </a:rPr>
              <a:t>/ Ki </a:t>
            </a:r>
            <a:r>
              <a:rPr lang="en-US" sz="1200" b="1" i="1" dirty="0" err="1">
                <a:latin typeface="Cambria" pitchFamily="18" charset="0"/>
              </a:rPr>
              <a:t>năng</a:t>
            </a:r>
            <a:r>
              <a:rPr lang="en-US" sz="1200" b="1" i="1" dirty="0">
                <a:latin typeface="Cambria" pitchFamily="18" charset="0"/>
              </a:rPr>
              <a:t> </a:t>
            </a:r>
            <a:r>
              <a:rPr lang="en-US" sz="1200" b="1" i="1" dirty="0" err="1">
                <a:latin typeface="Cambria" pitchFamily="18" charset="0"/>
              </a:rPr>
              <a:t>nghe</a:t>
            </a:r>
            <a:endParaRPr lang="en-US" sz="1200" b="1" i="1" dirty="0">
              <a:latin typeface="Cambria" pitchFamily="18" charset="0"/>
            </a:endParaRPr>
          </a:p>
          <a:p>
            <a:r>
              <a:rPr lang="en-US" sz="1200" dirty="0">
                <a:latin typeface="Cambria" pitchFamily="18" charset="0"/>
              </a:rPr>
              <a:t>Foreign teacher’s comments:</a:t>
            </a:r>
            <a:br>
              <a:rPr lang="en-US" sz="1200" dirty="0">
                <a:latin typeface="Cambria" pitchFamily="18" charset="0"/>
              </a:rPr>
            </a:br>
            <a:r>
              <a:rPr lang="en-US" sz="1200" dirty="0">
                <a:latin typeface="Cambria" pitchFamily="18" charset="0"/>
              </a:rPr>
              <a:t>Sometimes he likes breaking the rules. But he</a:t>
            </a:r>
            <a:r>
              <a:rPr lang="en-US" sz="1200" dirty="0"/>
              <a:t> processes complex, detailed verbal scenarios extraordinarily fast and catches tiny acoustic sound variations with ease. He follows lengthy native teacher stories closely, shows an exceptional ear for foreign pronunciation changes, and accurately interprets abstract vocabulary definitions without needing any extra simplified breakdowns or supporting visual prompts during lessons</a:t>
            </a:r>
            <a:br>
              <a:rPr lang="en-US" sz="1200" dirty="0">
                <a:latin typeface="Cambria" pitchFamily="18" charset="0"/>
              </a:rPr>
            </a:br>
            <a:endParaRPr lang="en-US" sz="1200" dirty="0">
              <a:latin typeface="Cambria" pitchFamily="18" charset="0"/>
            </a:endParaRPr>
          </a:p>
        </p:txBody>
      </p:sp>
      <p:sp>
        <p:nvSpPr>
          <p:cNvPr id="3" name="Rectangle 2">
            <a:extLst>
              <a:ext uri="{FF2B5EF4-FFF2-40B4-BE49-F238E27FC236}">
                <a16:creationId xmlns:a16="http://schemas.microsoft.com/office/drawing/2014/main" id="{1ECE2E83-4E72-69A6-1CDC-F8B390E19E92}"/>
              </a:ext>
            </a:extLst>
          </p:cNvPr>
          <p:cNvSpPr/>
          <p:nvPr/>
        </p:nvSpPr>
        <p:spPr>
          <a:xfrm>
            <a:off x="203204" y="5646258"/>
            <a:ext cx="6248400" cy="1569660"/>
          </a:xfrm>
          <a:prstGeom prst="rect">
            <a:avLst/>
          </a:prstGeom>
        </p:spPr>
        <p:txBody>
          <a:bodyPr wrap="square">
            <a:spAutoFit/>
          </a:bodyPr>
          <a:lstStyle/>
          <a:p>
            <a:r>
              <a:rPr lang="en-US" sz="1200" b="1" dirty="0">
                <a:latin typeface="Cambria" pitchFamily="18" charset="0"/>
              </a:rPr>
              <a:t>Speaking</a:t>
            </a:r>
            <a:r>
              <a:rPr lang="en-US" sz="1200" b="1" i="1" dirty="0">
                <a:latin typeface="Cambria" pitchFamily="18" charset="0"/>
              </a:rPr>
              <a:t>/ Ki </a:t>
            </a:r>
            <a:r>
              <a:rPr lang="en-US" sz="1200" b="1" i="1" dirty="0" err="1">
                <a:latin typeface="Cambria" pitchFamily="18" charset="0"/>
              </a:rPr>
              <a:t>năng</a:t>
            </a:r>
            <a:r>
              <a:rPr lang="en-US" sz="1200" b="1" i="1" dirty="0">
                <a:latin typeface="Cambria" pitchFamily="18" charset="0"/>
              </a:rPr>
              <a:t> </a:t>
            </a:r>
            <a:r>
              <a:rPr lang="en-US" sz="1200" b="1" i="1" dirty="0" err="1">
                <a:latin typeface="Cambria" pitchFamily="18" charset="0"/>
              </a:rPr>
              <a:t>nói</a:t>
            </a:r>
            <a:endParaRPr lang="en-US" sz="1200" b="1" i="1" dirty="0">
              <a:latin typeface="Cambria" pitchFamily="18" charset="0"/>
            </a:endParaRPr>
          </a:p>
          <a:p>
            <a:r>
              <a:rPr lang="en-US" sz="1200" dirty="0">
                <a:latin typeface="Cambria" pitchFamily="18" charset="0"/>
              </a:rPr>
              <a:t>Foreign teacher’s comments:</a:t>
            </a:r>
            <a:br>
              <a:rPr lang="en-US" sz="1200" dirty="0">
                <a:latin typeface="Cambria" pitchFamily="18" charset="0"/>
              </a:rPr>
            </a:br>
            <a:r>
              <a:rPr lang="en-US" sz="1200" dirty="0"/>
              <a:t>He speaks fluently and confidently. He likes asking and initiates descriptive conversations during group work and sharing time. He expresses sophisticated thoughts using full independent sentence strings, demonstrates accurate word stress on multi-syllable terms, and uses structured thematic grammar frameworks with great natural cadence, structural variety, and advanced vocabulary choices for his age.</a:t>
            </a:r>
            <a:br>
              <a:rPr lang="en-US" sz="1200" dirty="0">
                <a:latin typeface="Cambria" pitchFamily="18" charset="0"/>
              </a:rPr>
            </a:br>
            <a:endParaRPr lang="en-US" sz="1200" dirty="0">
              <a:latin typeface="Cambria" pitchFamily="18" charset="0"/>
            </a:endParaRPr>
          </a:p>
        </p:txBody>
      </p:sp>
      <p:sp>
        <p:nvSpPr>
          <p:cNvPr id="7" name="Rectangle 6">
            <a:extLst>
              <a:ext uri="{FF2B5EF4-FFF2-40B4-BE49-F238E27FC236}">
                <a16:creationId xmlns:a16="http://schemas.microsoft.com/office/drawing/2014/main" id="{8C083530-FB14-7A4B-202F-46C3F74FFF50}"/>
              </a:ext>
            </a:extLst>
          </p:cNvPr>
          <p:cNvSpPr/>
          <p:nvPr/>
        </p:nvSpPr>
        <p:spPr>
          <a:xfrm>
            <a:off x="222253" y="7028416"/>
            <a:ext cx="6248400" cy="1569660"/>
          </a:xfrm>
          <a:prstGeom prst="rect">
            <a:avLst/>
          </a:prstGeom>
        </p:spPr>
        <p:txBody>
          <a:bodyPr wrap="square">
            <a:spAutoFit/>
          </a:bodyPr>
          <a:lstStyle/>
          <a:p>
            <a:r>
              <a:rPr lang="en-US" sz="1200" dirty="0">
                <a:latin typeface="Cambria" pitchFamily="18" charset="0"/>
              </a:rPr>
              <a:t>Vietnamese teacher’s comments:</a:t>
            </a:r>
            <a:br>
              <a:rPr lang="en-US" sz="1200" dirty="0">
                <a:latin typeface="Cambria" pitchFamily="18" charset="0"/>
              </a:rPr>
            </a:br>
            <a:r>
              <a:rPr lang="en-US" sz="1200" dirty="0">
                <a:latin typeface="Cambria" pitchFamily="18" charset="0"/>
              </a:rPr>
              <a:t>…………………………………………………………………………………………………………………………………………………………………………………………………………………………………………………………………………………………………………………………………………………………………………………………………………………………………………………………………………………………………………………………………………………………………………………</a:t>
            </a:r>
          </a:p>
          <a:p>
            <a:br>
              <a:rPr lang="en-US" sz="1200" dirty="0">
                <a:latin typeface="Cambria" pitchFamily="18" charset="0"/>
              </a:rPr>
            </a:br>
            <a:r>
              <a:rPr lang="en-US" sz="1200" dirty="0">
                <a:latin typeface="Cambria" pitchFamily="18" charset="0"/>
              </a:rPr>
              <a:t>Performance Level:</a:t>
            </a:r>
            <a:br>
              <a:rPr lang="en-US" sz="1200" dirty="0">
                <a:latin typeface="Cambria" pitchFamily="18" charset="0"/>
              </a:rPr>
            </a:br>
            <a:r>
              <a:rPr lang="en-US" sz="1200" dirty="0">
                <a:latin typeface="Cambria" pitchFamily="18" charset="0"/>
              </a:rPr>
              <a:t>    Excellent         Good              Satisfactory        Needs Improvement</a:t>
            </a:r>
          </a:p>
        </p:txBody>
      </p:sp>
      <p:sp>
        <p:nvSpPr>
          <p:cNvPr id="8" name="Rectangle 7">
            <a:extLst>
              <a:ext uri="{FF2B5EF4-FFF2-40B4-BE49-F238E27FC236}">
                <a16:creationId xmlns:a16="http://schemas.microsoft.com/office/drawing/2014/main" id="{BE8ABC28-A535-2A82-35A2-6E0ED9F2211D}"/>
              </a:ext>
            </a:extLst>
          </p:cNvPr>
          <p:cNvSpPr/>
          <p:nvPr/>
        </p:nvSpPr>
        <p:spPr>
          <a:xfrm>
            <a:off x="279414" y="1791776"/>
            <a:ext cx="6248400" cy="830997"/>
          </a:xfrm>
          <a:prstGeom prst="rect">
            <a:avLst/>
          </a:prstGeom>
        </p:spPr>
        <p:txBody>
          <a:bodyPr wrap="square">
            <a:spAutoFit/>
          </a:bodyPr>
          <a:lstStyle/>
          <a:p>
            <a:r>
              <a:rPr lang="en-US" sz="1200" b="1" dirty="0">
                <a:latin typeface="Cambria" pitchFamily="18" charset="0"/>
              </a:rPr>
              <a:t>Through the test, students clearly demonstrated their language abilities with their English skills</a:t>
            </a:r>
            <a:r>
              <a:rPr lang="en-US" sz="1200" b="1" i="1" dirty="0">
                <a:latin typeface="Cambria" pitchFamily="18" charset="0"/>
              </a:rPr>
              <a:t>/ Qua </a:t>
            </a:r>
            <a:r>
              <a:rPr lang="en-US" sz="1200" b="1" i="1" dirty="0" err="1">
                <a:latin typeface="Cambria" pitchFamily="18" charset="0"/>
              </a:rPr>
              <a:t>bài</a:t>
            </a:r>
            <a:r>
              <a:rPr lang="en-US" sz="1200" b="1" i="1" dirty="0">
                <a:latin typeface="Cambria" pitchFamily="18" charset="0"/>
              </a:rPr>
              <a:t> </a:t>
            </a:r>
            <a:r>
              <a:rPr lang="en-US" sz="1200" b="1" i="1" dirty="0" err="1">
                <a:latin typeface="Cambria" pitchFamily="18" charset="0"/>
              </a:rPr>
              <a:t>kiểm</a:t>
            </a:r>
            <a:r>
              <a:rPr lang="en-US" sz="1200" b="1" i="1" dirty="0">
                <a:latin typeface="Cambria" pitchFamily="18" charset="0"/>
              </a:rPr>
              <a:t> </a:t>
            </a:r>
            <a:r>
              <a:rPr lang="en-US" sz="1200" b="1" i="1" dirty="0" err="1">
                <a:latin typeface="Cambria" pitchFamily="18" charset="0"/>
              </a:rPr>
              <a:t>tra</a:t>
            </a:r>
            <a:r>
              <a:rPr lang="en-US" sz="1200" b="1" i="1" dirty="0">
                <a:latin typeface="Cambria" pitchFamily="18" charset="0"/>
              </a:rPr>
              <a:t>, </a:t>
            </a:r>
            <a:r>
              <a:rPr lang="en-US" sz="1200" b="1" i="1" dirty="0" err="1">
                <a:latin typeface="Cambria" pitchFamily="18" charset="0"/>
              </a:rPr>
              <a:t>trẻ</a:t>
            </a:r>
            <a:r>
              <a:rPr lang="en-US" sz="1200" b="1" i="1" dirty="0">
                <a:latin typeface="Cambria" pitchFamily="18" charset="0"/>
              </a:rPr>
              <a:t> </a:t>
            </a:r>
            <a:r>
              <a:rPr lang="en-US" sz="1200" b="1" i="1" dirty="0" err="1">
                <a:latin typeface="Cambria" pitchFamily="18" charset="0"/>
              </a:rPr>
              <a:t>thể</a:t>
            </a:r>
            <a:r>
              <a:rPr lang="en-US" sz="1200" b="1" i="1" dirty="0">
                <a:latin typeface="Cambria" pitchFamily="18" charset="0"/>
              </a:rPr>
              <a:t> </a:t>
            </a:r>
            <a:r>
              <a:rPr lang="en-US" sz="1200" b="1" i="1" dirty="0" err="1">
                <a:latin typeface="Cambria" pitchFamily="18" charset="0"/>
              </a:rPr>
              <a:t>hiện</a:t>
            </a:r>
            <a:r>
              <a:rPr lang="en-US" sz="1200" b="1" i="1" dirty="0">
                <a:latin typeface="Cambria" pitchFamily="18" charset="0"/>
              </a:rPr>
              <a:t> </a:t>
            </a:r>
            <a:r>
              <a:rPr lang="en-US" sz="1200" b="1" i="1" dirty="0" err="1">
                <a:latin typeface="Cambria" pitchFamily="18" charset="0"/>
              </a:rPr>
              <a:t>khả</a:t>
            </a:r>
            <a:r>
              <a:rPr lang="en-US" sz="1200" b="1" i="1" dirty="0">
                <a:latin typeface="Cambria" pitchFamily="18" charset="0"/>
              </a:rPr>
              <a:t> </a:t>
            </a:r>
            <a:r>
              <a:rPr lang="en-US" sz="1200" b="1" i="1" dirty="0" err="1">
                <a:latin typeface="Cambria" pitchFamily="18" charset="0"/>
              </a:rPr>
              <a:t>năng</a:t>
            </a:r>
            <a:r>
              <a:rPr lang="en-US" sz="1200" b="1" i="1" dirty="0">
                <a:latin typeface="Cambria" pitchFamily="18" charset="0"/>
              </a:rPr>
              <a:t> </a:t>
            </a:r>
            <a:r>
              <a:rPr lang="en-US" sz="1200" b="1" i="1" dirty="0" err="1">
                <a:latin typeface="Cambria" pitchFamily="18" charset="0"/>
              </a:rPr>
              <a:t>ngôn</a:t>
            </a:r>
            <a:r>
              <a:rPr lang="en-US" sz="1200" b="1" i="1" dirty="0">
                <a:latin typeface="Cambria" pitchFamily="18" charset="0"/>
              </a:rPr>
              <a:t> </a:t>
            </a:r>
            <a:r>
              <a:rPr lang="en-US" sz="1200" b="1" i="1" dirty="0" err="1">
                <a:latin typeface="Cambria" pitchFamily="18" charset="0"/>
              </a:rPr>
              <a:t>ngữ</a:t>
            </a:r>
            <a:r>
              <a:rPr lang="en-US" sz="1200" b="1" i="1" dirty="0">
                <a:latin typeface="Cambria" pitchFamily="18" charset="0"/>
              </a:rPr>
              <a:t> </a:t>
            </a:r>
            <a:r>
              <a:rPr lang="en-US" sz="1200" b="1" i="1" dirty="0" err="1">
                <a:latin typeface="Cambria" pitchFamily="18" charset="0"/>
              </a:rPr>
              <a:t>với</a:t>
            </a:r>
            <a:r>
              <a:rPr lang="en-US" sz="1200" b="1" i="1" dirty="0">
                <a:latin typeface="Cambria" pitchFamily="18" charset="0"/>
              </a:rPr>
              <a:t> </a:t>
            </a:r>
            <a:r>
              <a:rPr lang="en-US" sz="1200" b="1" i="1" dirty="0" err="1">
                <a:latin typeface="Cambria" pitchFamily="18" charset="0"/>
              </a:rPr>
              <a:t>các</a:t>
            </a:r>
            <a:r>
              <a:rPr lang="en-US" sz="1200" b="1" i="1" dirty="0">
                <a:latin typeface="Cambria" pitchFamily="18" charset="0"/>
              </a:rPr>
              <a:t> </a:t>
            </a:r>
            <a:r>
              <a:rPr lang="en-US" sz="1200" b="1" i="1" dirty="0" err="1">
                <a:latin typeface="Cambria" pitchFamily="18" charset="0"/>
              </a:rPr>
              <a:t>kĩ</a:t>
            </a:r>
            <a:r>
              <a:rPr lang="en-US" sz="1200" b="1" i="1" dirty="0">
                <a:latin typeface="Cambria" pitchFamily="18" charset="0"/>
              </a:rPr>
              <a:t> </a:t>
            </a:r>
            <a:r>
              <a:rPr lang="en-US" sz="1200" b="1" i="1" dirty="0" err="1">
                <a:latin typeface="Cambria" pitchFamily="18" charset="0"/>
              </a:rPr>
              <a:t>năng</a:t>
            </a:r>
            <a:r>
              <a:rPr lang="en-US" sz="1200" b="1" i="1" dirty="0">
                <a:latin typeface="Cambria" pitchFamily="18" charset="0"/>
              </a:rPr>
              <a:t> </a:t>
            </a:r>
            <a:r>
              <a:rPr lang="en-US" sz="1200" b="1" i="1" dirty="0" err="1">
                <a:latin typeface="Cambria" pitchFamily="18" charset="0"/>
              </a:rPr>
              <a:t>tiếng</a:t>
            </a:r>
            <a:r>
              <a:rPr lang="en-US" sz="1200" b="1" i="1" dirty="0">
                <a:latin typeface="Cambria" pitchFamily="18" charset="0"/>
              </a:rPr>
              <a:t> Anh </a:t>
            </a:r>
            <a:r>
              <a:rPr lang="en-US" sz="1200" b="1" i="1" dirty="0" err="1">
                <a:latin typeface="Cambria" pitchFamily="18" charset="0"/>
              </a:rPr>
              <a:t>của</a:t>
            </a:r>
            <a:r>
              <a:rPr lang="en-US" sz="1200" b="1" i="1" dirty="0">
                <a:latin typeface="Cambria" pitchFamily="18" charset="0"/>
              </a:rPr>
              <a:t> </a:t>
            </a:r>
            <a:r>
              <a:rPr lang="en-US" sz="1200" b="1" i="1" dirty="0" err="1">
                <a:latin typeface="Cambria" pitchFamily="18" charset="0"/>
              </a:rPr>
              <a:t>mình</a:t>
            </a:r>
            <a:r>
              <a:rPr lang="en-US" sz="1200" b="1" i="1" dirty="0">
                <a:latin typeface="Cambria" pitchFamily="18" charset="0"/>
              </a:rPr>
              <a:t>,</a:t>
            </a:r>
            <a:br>
              <a:rPr lang="en-US" sz="1200" dirty="0">
                <a:latin typeface="Cambria" pitchFamily="18" charset="0"/>
              </a:rPr>
            </a:br>
            <a:endParaRPr lang="en-US" sz="1200" dirty="0">
              <a:latin typeface="Cambria" pitchFamily="18" charset="0"/>
            </a:endParaRPr>
          </a:p>
        </p:txBody>
      </p:sp>
    </p:spTree>
    <p:extLst>
      <p:ext uri="{BB962C8B-B14F-4D97-AF65-F5344CB8AC3E}">
        <p14:creationId xmlns:p14="http://schemas.microsoft.com/office/powerpoint/2010/main" val="2483814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7"/>
          <p:cNvSpPr/>
          <p:nvPr/>
        </p:nvSpPr>
        <p:spPr>
          <a:xfrm>
            <a:off x="171451" y="6172200"/>
            <a:ext cx="6248400" cy="1754326"/>
          </a:xfrm>
          <a:prstGeom prst="rect">
            <a:avLst/>
          </a:prstGeom>
        </p:spPr>
        <p:txBody>
          <a:bodyPr wrap="square">
            <a:spAutoFit/>
          </a:bodyPr>
          <a:lstStyle/>
          <a:p>
            <a:r>
              <a:rPr lang="en-US" sz="1200" b="1" dirty="0">
                <a:latin typeface="Cambria" pitchFamily="18" charset="0"/>
              </a:rPr>
              <a:t>General Comments:</a:t>
            </a:r>
          </a:p>
          <a:p>
            <a:r>
              <a:rPr lang="en-US" sz="1200" dirty="0">
                <a:latin typeface="Cambria" pitchFamily="18" charset="0"/>
              </a:rPr>
              <a:t>Foreign teacher’s comments</a:t>
            </a:r>
          </a:p>
          <a:p>
            <a:r>
              <a:rPr lang="en-US" sz="1200" dirty="0" err="1"/>
              <a:t>Bắp</a:t>
            </a:r>
            <a:r>
              <a:rPr lang="en-US" sz="1200" dirty="0"/>
              <a:t> displays an exceptional academic grasp on complex themes like natural disasters, transportation networks, and jobs. He communicated beautifully during cultural projects for Tet holiday, Christmas, and his country Vietnam. He leads peers in practical </a:t>
            </a:r>
            <a:r>
              <a:rPr lang="en-US" sz="1200" dirty="0" err="1"/>
              <a:t>maths</a:t>
            </a:r>
            <a:r>
              <a:rPr lang="en-US" sz="1200" dirty="0"/>
              <a:t> activities and science tasks. He excels in reading, instantly recognizing short and long vowels while masterfully reading advanced CVC word groups with perfect pronunciation. .</a:t>
            </a:r>
            <a:br>
              <a:rPr lang="en-US" sz="1200" dirty="0">
                <a:latin typeface="Cambria" pitchFamily="18" charset="0"/>
              </a:rPr>
            </a:br>
            <a:endParaRPr lang="en-US" sz="1200" dirty="0">
              <a:latin typeface="Cambria" pitchFamily="18" charset="0"/>
            </a:endParaRPr>
          </a:p>
          <a:p>
            <a:r>
              <a:rPr lang="en-US" sz="1200" dirty="0">
                <a:latin typeface="Cambria" pitchFamily="18" charset="0"/>
              </a:rPr>
              <a:t>                                                                                          </a:t>
            </a:r>
          </a:p>
        </p:txBody>
      </p:sp>
      <p:sp>
        <p:nvSpPr>
          <p:cNvPr id="2" name="Rectangle 1">
            <a:extLst>
              <a:ext uri="{FF2B5EF4-FFF2-40B4-BE49-F238E27FC236}">
                <a16:creationId xmlns:a16="http://schemas.microsoft.com/office/drawing/2014/main" id="{6ADD627D-5BF5-3F61-0842-2C97786C0E46}"/>
              </a:ext>
            </a:extLst>
          </p:cNvPr>
          <p:cNvSpPr/>
          <p:nvPr/>
        </p:nvSpPr>
        <p:spPr>
          <a:xfrm>
            <a:off x="171451" y="240869"/>
            <a:ext cx="6248400" cy="1384995"/>
          </a:xfrm>
          <a:prstGeom prst="rect">
            <a:avLst/>
          </a:prstGeom>
        </p:spPr>
        <p:txBody>
          <a:bodyPr wrap="square">
            <a:spAutoFit/>
          </a:bodyPr>
          <a:lstStyle/>
          <a:p>
            <a:r>
              <a:rPr lang="en-US" sz="1200" b="1" i="1" dirty="0">
                <a:latin typeface="Cambria" pitchFamily="18" charset="0"/>
              </a:rPr>
              <a:t>Reading/ Ki </a:t>
            </a:r>
            <a:r>
              <a:rPr lang="en-US" sz="1200" b="1" i="1" dirty="0" err="1">
                <a:latin typeface="Cambria" pitchFamily="18" charset="0"/>
              </a:rPr>
              <a:t>năng</a:t>
            </a:r>
            <a:r>
              <a:rPr lang="en-US" sz="1200" b="1" i="1" dirty="0">
                <a:latin typeface="Cambria" pitchFamily="18" charset="0"/>
              </a:rPr>
              <a:t> </a:t>
            </a:r>
            <a:r>
              <a:rPr lang="en-US" sz="1200" b="1" i="1" dirty="0" err="1">
                <a:latin typeface="Cambria" pitchFamily="18" charset="0"/>
              </a:rPr>
              <a:t>đọc</a:t>
            </a:r>
            <a:endParaRPr lang="en-US" sz="1200" b="1" i="1" dirty="0">
              <a:latin typeface="Cambria" pitchFamily="18" charset="0"/>
            </a:endParaRPr>
          </a:p>
          <a:p>
            <a:r>
              <a:rPr lang="en-US" sz="1200" dirty="0">
                <a:latin typeface="Cambria" pitchFamily="18" charset="0"/>
              </a:rPr>
              <a:t>Foreign teacher’s comments:</a:t>
            </a:r>
            <a:br>
              <a:rPr lang="en-US" sz="1200" dirty="0">
                <a:latin typeface="Cambria" pitchFamily="18" charset="0"/>
              </a:rPr>
            </a:br>
            <a:r>
              <a:rPr lang="en-US" sz="1200" dirty="0"/>
              <a:t>He is highly proficient at decoding unfamiliar textual blocks and showcases advanced context-clue comprehension skills. He recognizes high-frequency sight words instantly, scans book layouts with great autonomy, and reads target sentences smoothly from top to bottom while showing a deep, natural understanding of phonic spelling patterns and rhyme structures.</a:t>
            </a:r>
            <a:br>
              <a:rPr lang="en-US" sz="1200" dirty="0">
                <a:latin typeface="Cambria" pitchFamily="18" charset="0"/>
              </a:rPr>
            </a:br>
            <a:endParaRPr lang="en-US" sz="1200" dirty="0">
              <a:latin typeface="Cambria" pitchFamily="18" charset="0"/>
            </a:endParaRPr>
          </a:p>
        </p:txBody>
      </p:sp>
      <p:sp>
        <p:nvSpPr>
          <p:cNvPr id="3" name="Rectangle 2">
            <a:extLst>
              <a:ext uri="{FF2B5EF4-FFF2-40B4-BE49-F238E27FC236}">
                <a16:creationId xmlns:a16="http://schemas.microsoft.com/office/drawing/2014/main" id="{3D590640-BD03-C6EF-FE2A-DE41FD8662F9}"/>
              </a:ext>
            </a:extLst>
          </p:cNvPr>
          <p:cNvSpPr/>
          <p:nvPr/>
        </p:nvSpPr>
        <p:spPr>
          <a:xfrm>
            <a:off x="171451" y="2816101"/>
            <a:ext cx="6248400" cy="1569660"/>
          </a:xfrm>
          <a:prstGeom prst="rect">
            <a:avLst/>
          </a:prstGeom>
        </p:spPr>
        <p:txBody>
          <a:bodyPr wrap="square">
            <a:spAutoFit/>
          </a:bodyPr>
          <a:lstStyle/>
          <a:p>
            <a:r>
              <a:rPr lang="en-US" sz="1200" dirty="0">
                <a:latin typeface="Cambria" pitchFamily="18" charset="0"/>
              </a:rPr>
              <a:t>Vietnamese teacher’s comments:</a:t>
            </a:r>
            <a:br>
              <a:rPr lang="en-US" sz="1200" dirty="0">
                <a:latin typeface="Cambria" pitchFamily="18" charset="0"/>
              </a:rPr>
            </a:br>
            <a:r>
              <a:rPr lang="en-US" sz="1200" dirty="0">
                <a:latin typeface="Cambria" pitchFamily="18" charset="0"/>
              </a:rPr>
              <a:t>…………………………………………………………………………………………………………………………………………………………………………………………………………………………………………………………………………………………………………………………………………………………………………………………………………………………………………………………………………………………………………………………………………………………………………………</a:t>
            </a:r>
          </a:p>
          <a:p>
            <a:br>
              <a:rPr lang="en-US" sz="1200" dirty="0">
                <a:latin typeface="Cambria" pitchFamily="18" charset="0"/>
              </a:rPr>
            </a:br>
            <a:r>
              <a:rPr lang="en-US" sz="1200" dirty="0">
                <a:latin typeface="Cambria" pitchFamily="18" charset="0"/>
              </a:rPr>
              <a:t>Performance Level:</a:t>
            </a:r>
            <a:br>
              <a:rPr lang="en-US" sz="1200" dirty="0">
                <a:latin typeface="Cambria" pitchFamily="18" charset="0"/>
              </a:rPr>
            </a:br>
            <a:r>
              <a:rPr lang="en-US" sz="1200" dirty="0">
                <a:latin typeface="Cambria" pitchFamily="18" charset="0"/>
              </a:rPr>
              <a:t>    Excellent         Good              Satisfactory        Needs Improvement</a:t>
            </a:r>
          </a:p>
        </p:txBody>
      </p:sp>
      <p:sp>
        <p:nvSpPr>
          <p:cNvPr id="5" name="Rectangle 4">
            <a:extLst>
              <a:ext uri="{FF2B5EF4-FFF2-40B4-BE49-F238E27FC236}">
                <a16:creationId xmlns:a16="http://schemas.microsoft.com/office/drawing/2014/main" id="{F41DCFFA-F893-615A-D33A-07277436C1B4}"/>
              </a:ext>
            </a:extLst>
          </p:cNvPr>
          <p:cNvSpPr/>
          <p:nvPr/>
        </p:nvSpPr>
        <p:spPr>
          <a:xfrm>
            <a:off x="171451" y="1482170"/>
            <a:ext cx="6248400" cy="1569660"/>
          </a:xfrm>
          <a:prstGeom prst="rect">
            <a:avLst/>
          </a:prstGeom>
        </p:spPr>
        <p:txBody>
          <a:bodyPr wrap="square">
            <a:spAutoFit/>
          </a:bodyPr>
          <a:lstStyle/>
          <a:p>
            <a:r>
              <a:rPr lang="en-US" sz="1200" b="1" i="1" dirty="0">
                <a:latin typeface="Cambria" pitchFamily="18" charset="0"/>
              </a:rPr>
              <a:t>Writing/ Ki </a:t>
            </a:r>
            <a:r>
              <a:rPr lang="en-US" sz="1200" b="1" i="1" dirty="0" err="1">
                <a:latin typeface="Cambria" pitchFamily="18" charset="0"/>
              </a:rPr>
              <a:t>năng</a:t>
            </a:r>
            <a:r>
              <a:rPr lang="en-US" sz="1200" b="1" i="1" dirty="0">
                <a:latin typeface="Cambria" pitchFamily="18" charset="0"/>
              </a:rPr>
              <a:t> </a:t>
            </a:r>
            <a:r>
              <a:rPr lang="en-US" sz="1200" b="1" i="1" dirty="0" err="1">
                <a:latin typeface="Cambria" pitchFamily="18" charset="0"/>
              </a:rPr>
              <a:t>viết</a:t>
            </a:r>
            <a:endParaRPr lang="en-US" sz="1200" b="1" i="1" dirty="0">
              <a:latin typeface="Cambria" pitchFamily="18" charset="0"/>
            </a:endParaRPr>
          </a:p>
          <a:p>
            <a:r>
              <a:rPr lang="en-US" sz="1200" dirty="0">
                <a:latin typeface="Cambria" pitchFamily="18" charset="0"/>
              </a:rPr>
              <a:t>Foreign teacher’s comments:</a:t>
            </a:r>
            <a:br>
              <a:rPr lang="en-US" sz="1200" dirty="0">
                <a:latin typeface="Cambria" pitchFamily="18" charset="0"/>
              </a:rPr>
            </a:br>
            <a:r>
              <a:rPr lang="en-US" sz="1200" dirty="0">
                <a:latin typeface="Cambria" pitchFamily="18" charset="0"/>
              </a:rPr>
              <a:t>Even though he likes doing everything at his own pace. </a:t>
            </a:r>
            <a:r>
              <a:rPr lang="en-US" sz="1200" dirty="0"/>
              <a:t>He writes full words cleanly with excellent spatial distribution, natural pencil handling, and correct character sizing. He effortlessly copies longer vocabulary terms from the whiteboard template onto unlined notebooks, maintaining wonderful linear alignment and displaying advanced fine motor skills that allow him to write completely independent of standard tracing guides.</a:t>
            </a:r>
            <a:br>
              <a:rPr lang="en-US" sz="1200" dirty="0">
                <a:latin typeface="Cambria" pitchFamily="18" charset="0"/>
              </a:rPr>
            </a:br>
            <a:endParaRPr lang="en-US" sz="1200" dirty="0">
              <a:latin typeface="Cambria" pitchFamily="18" charset="0"/>
            </a:endParaRPr>
          </a:p>
        </p:txBody>
      </p:sp>
      <p:sp>
        <p:nvSpPr>
          <p:cNvPr id="7" name="Rectangle 6">
            <a:extLst>
              <a:ext uri="{FF2B5EF4-FFF2-40B4-BE49-F238E27FC236}">
                <a16:creationId xmlns:a16="http://schemas.microsoft.com/office/drawing/2014/main" id="{E3D4DE68-00CC-5C06-2132-00C7FCA34AE7}"/>
              </a:ext>
            </a:extLst>
          </p:cNvPr>
          <p:cNvSpPr/>
          <p:nvPr/>
        </p:nvSpPr>
        <p:spPr>
          <a:xfrm>
            <a:off x="171451" y="4378499"/>
            <a:ext cx="6248400" cy="1569660"/>
          </a:xfrm>
          <a:prstGeom prst="rect">
            <a:avLst/>
          </a:prstGeom>
        </p:spPr>
        <p:txBody>
          <a:bodyPr wrap="square">
            <a:spAutoFit/>
          </a:bodyPr>
          <a:lstStyle/>
          <a:p>
            <a:r>
              <a:rPr lang="en-US" sz="1200" dirty="0">
                <a:latin typeface="Cambria" pitchFamily="18" charset="0"/>
              </a:rPr>
              <a:t>Vietnamese teacher’s comments:</a:t>
            </a:r>
            <a:br>
              <a:rPr lang="en-US" sz="1200" dirty="0">
                <a:latin typeface="Cambria" pitchFamily="18" charset="0"/>
              </a:rPr>
            </a:br>
            <a:r>
              <a:rPr lang="en-US" sz="1200" dirty="0">
                <a:latin typeface="Cambria" pitchFamily="18" charset="0"/>
              </a:rPr>
              <a:t>…………………………………………………………………………………………………………………………………………………………………………………………………………………………………………………………………………………………………………………………………………………………………………………………………………………………………………………………………………………………………………………………………………………………………………………</a:t>
            </a:r>
          </a:p>
          <a:p>
            <a:br>
              <a:rPr lang="en-US" sz="1200" dirty="0">
                <a:latin typeface="Cambria" pitchFamily="18" charset="0"/>
              </a:rPr>
            </a:br>
            <a:r>
              <a:rPr lang="en-US" sz="1200" dirty="0">
                <a:latin typeface="Cambria" pitchFamily="18" charset="0"/>
              </a:rPr>
              <a:t>Performance Level:</a:t>
            </a:r>
            <a:br>
              <a:rPr lang="en-US" sz="1200" dirty="0">
                <a:latin typeface="Cambria" pitchFamily="18" charset="0"/>
              </a:rPr>
            </a:br>
            <a:r>
              <a:rPr lang="en-US" sz="1200" dirty="0">
                <a:latin typeface="Cambria" pitchFamily="18" charset="0"/>
              </a:rPr>
              <a:t>    Excellent         Good              Satisfactory        Needs Improvement</a:t>
            </a:r>
          </a:p>
        </p:txBody>
      </p:sp>
    </p:spTree>
    <p:extLst>
      <p:ext uri="{BB962C8B-B14F-4D97-AF65-F5344CB8AC3E}">
        <p14:creationId xmlns:p14="http://schemas.microsoft.com/office/powerpoint/2010/main" val="1290557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C48B54-FC27-A696-48A7-E9B0B0347374}"/>
              </a:ext>
            </a:extLst>
          </p:cNvPr>
          <p:cNvSpPr/>
          <p:nvPr/>
        </p:nvSpPr>
        <p:spPr>
          <a:xfrm>
            <a:off x="304800" y="304800"/>
            <a:ext cx="6248400" cy="2492990"/>
          </a:xfrm>
          <a:prstGeom prst="rect">
            <a:avLst/>
          </a:prstGeom>
        </p:spPr>
        <p:txBody>
          <a:bodyPr wrap="square">
            <a:spAutoFit/>
          </a:bodyPr>
          <a:lstStyle/>
          <a:p>
            <a:r>
              <a:rPr lang="en-US" sz="1200" b="1" dirty="0">
                <a:latin typeface="Cambria" pitchFamily="18" charset="0"/>
              </a:rPr>
              <a:t>Suggested Improvements:</a:t>
            </a:r>
          </a:p>
          <a:p>
            <a:r>
              <a:rPr lang="en-US" sz="1200" dirty="0">
                <a:latin typeface="Cambria" pitchFamily="18" charset="0"/>
              </a:rPr>
              <a:t>Foreign teacher’s suggestion</a:t>
            </a:r>
          </a:p>
          <a:p>
            <a:r>
              <a:rPr lang="en-US" sz="1200" dirty="0"/>
              <a:t>He is ready for advanced work, so introducing early kindergarten readers will greatly expand his vocabulary. Encourage him to keep a small journal to write short independent sentences about nature, science, or transport. Asking him to describe natural disasters or Christmas events in full paragraphs will build his fluency. He should continue this wonderful academic momentum in primary level too</a:t>
            </a:r>
            <a:br>
              <a:rPr lang="en-US" sz="1200" dirty="0">
                <a:latin typeface="Cambria" pitchFamily="18" charset="0"/>
              </a:rPr>
            </a:br>
            <a:endParaRPr lang="en-US" sz="1200" dirty="0">
              <a:latin typeface="Cambria" pitchFamily="18" charset="0"/>
            </a:endParaRPr>
          </a:p>
          <a:p>
            <a:r>
              <a:rPr lang="en-US" sz="1200" dirty="0">
                <a:latin typeface="Cambria" pitchFamily="18" charset="0"/>
              </a:rPr>
              <a:t>Vietnamese teacher’s suggestion</a:t>
            </a:r>
          </a:p>
          <a:p>
            <a:r>
              <a:rPr lang="en-US" sz="1200" dirty="0">
                <a:latin typeface="Cambria" pitchFamily="18" charset="0"/>
              </a:rPr>
              <a:t>…………………………………………………………………………………………………………………………………………………………………………………………………………………………………………………………………………………………</a:t>
            </a:r>
            <a:br>
              <a:rPr lang="en-US" sz="1200" dirty="0">
                <a:latin typeface="Cambria" pitchFamily="18" charset="0"/>
              </a:rPr>
            </a:br>
            <a:endParaRPr lang="en-US" sz="1200" dirty="0">
              <a:latin typeface="Cambria" pitchFamily="18" charset="0"/>
            </a:endParaRPr>
          </a:p>
          <a:p>
            <a:r>
              <a:rPr lang="en-US" sz="1200" dirty="0">
                <a:latin typeface="Cambria" pitchFamily="18" charset="0"/>
              </a:rPr>
              <a:t>                                                                                          </a:t>
            </a:r>
          </a:p>
        </p:txBody>
      </p:sp>
      <p:graphicFrame>
        <p:nvGraphicFramePr>
          <p:cNvPr id="3" name="Table 3">
            <a:extLst>
              <a:ext uri="{FF2B5EF4-FFF2-40B4-BE49-F238E27FC236}">
                <a16:creationId xmlns:a16="http://schemas.microsoft.com/office/drawing/2014/main" id="{3E79FB42-4050-8C5D-FC8E-47976E06C418}"/>
              </a:ext>
            </a:extLst>
          </p:cNvPr>
          <p:cNvGraphicFramePr>
            <a:graphicFrameLocks noGrp="1"/>
          </p:cNvGraphicFramePr>
          <p:nvPr>
            <p:extLst>
              <p:ext uri="{D42A27DB-BD31-4B8C-83A1-F6EECF244321}">
                <p14:modId xmlns:p14="http://schemas.microsoft.com/office/powerpoint/2010/main" val="1582315490"/>
              </p:ext>
            </p:extLst>
          </p:nvPr>
        </p:nvGraphicFramePr>
        <p:xfrm>
          <a:off x="609600" y="2895600"/>
          <a:ext cx="5105400" cy="1478280"/>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3410181533"/>
                    </a:ext>
                  </a:extLst>
                </a:gridCol>
                <a:gridCol w="2552700">
                  <a:extLst>
                    <a:ext uri="{9D8B030D-6E8A-4147-A177-3AD203B41FA5}">
                      <a16:colId xmlns:a16="http://schemas.microsoft.com/office/drawing/2014/main" val="1703923553"/>
                    </a:ext>
                  </a:extLst>
                </a:gridCol>
              </a:tblGrid>
              <a:tr h="370840">
                <a:tc>
                  <a:txBody>
                    <a:bodyPr/>
                    <a:lstStyle/>
                    <a:p>
                      <a:r>
                        <a:rPr lang="en-US" sz="1300" b="0" i="1" dirty="0">
                          <a:solidFill>
                            <a:schemeClr val="tx1"/>
                          </a:solidFill>
                          <a:latin typeface="Cambria" panose="02040503050406030204" pitchFamily="18" charset="0"/>
                          <a:ea typeface="Cambria" panose="02040503050406030204" pitchFamily="18" charset="0"/>
                        </a:rPr>
                        <a:t>Foreign teacher’s signature</a:t>
                      </a:r>
                    </a:p>
                    <a:p>
                      <a:endParaRPr lang="en-US" sz="1300" b="0" i="1" dirty="0">
                        <a:solidFill>
                          <a:schemeClr val="tx1"/>
                        </a:solidFill>
                        <a:latin typeface="Cambria" panose="02040503050406030204" pitchFamily="18" charset="0"/>
                        <a:ea typeface="Cambria" panose="02040503050406030204" pitchFamily="18" charset="0"/>
                      </a:endParaRPr>
                    </a:p>
                    <a:p>
                      <a:endParaRPr lang="en-US" sz="1300" b="0" i="1" dirty="0">
                        <a:solidFill>
                          <a:schemeClr val="tx1"/>
                        </a:solidFill>
                        <a:latin typeface="Cambria" panose="02040503050406030204" pitchFamily="18" charset="0"/>
                        <a:ea typeface="Cambria" panose="02040503050406030204" pitchFamily="18" charset="0"/>
                      </a:endParaRPr>
                    </a:p>
                    <a:p>
                      <a:endParaRPr lang="en-US" sz="1300" b="0" i="1" dirty="0">
                        <a:solidFill>
                          <a:schemeClr val="tx1"/>
                        </a:solidFill>
                        <a:latin typeface="Cambria" panose="02040503050406030204" pitchFamily="18" charset="0"/>
                        <a:ea typeface="Cambria" panose="02040503050406030204" pitchFamily="18" charset="0"/>
                      </a:endParaRPr>
                    </a:p>
                    <a:p>
                      <a:endParaRPr lang="en-US" sz="1300" b="0" i="1" dirty="0">
                        <a:solidFill>
                          <a:schemeClr val="tx1"/>
                        </a:solidFill>
                        <a:latin typeface="Cambria" panose="02040503050406030204" pitchFamily="18" charset="0"/>
                        <a:ea typeface="Cambria" panose="02040503050406030204" pitchFamily="18" charset="0"/>
                      </a:endParaRPr>
                    </a:p>
                    <a:p>
                      <a:r>
                        <a:rPr lang="en-US" sz="1300" b="0" i="1" dirty="0">
                          <a:solidFill>
                            <a:schemeClr val="tx1"/>
                          </a:solidFill>
                          <a:latin typeface="Cambria" panose="02040503050406030204" pitchFamily="18" charset="0"/>
                          <a:ea typeface="Cambria" panose="02040503050406030204" pitchFamily="18" charset="0"/>
                        </a:rPr>
                        <a:t>Date:</a:t>
                      </a:r>
                    </a:p>
                    <a:p>
                      <a:endParaRPr lang="vi-VN" sz="1300" b="0" i="1" dirty="0">
                        <a:solidFill>
                          <a:schemeClr val="tx1"/>
                        </a:solidFill>
                        <a:latin typeface="Cambria" panose="02040503050406030204" pitchFamily="18" charset="0"/>
                        <a:ea typeface="Cambria" panose="02040503050406030204" pitchFamily="18"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i="1" dirty="0">
                          <a:solidFill>
                            <a:schemeClr val="tx1"/>
                          </a:solidFill>
                          <a:latin typeface="Cambria" panose="02040503050406030204" pitchFamily="18" charset="0"/>
                          <a:ea typeface="Cambria" panose="02040503050406030204" pitchFamily="18" charset="0"/>
                        </a:rPr>
                        <a:t>Vietnamese  teacher’s signature</a:t>
                      </a:r>
                    </a:p>
                    <a:p>
                      <a:endParaRPr lang="en-US" sz="1300" b="0" i="1" dirty="0">
                        <a:solidFill>
                          <a:schemeClr val="tx1"/>
                        </a:solidFill>
                        <a:latin typeface="Cambria" panose="02040503050406030204" pitchFamily="18" charset="0"/>
                        <a:ea typeface="Cambria" panose="02040503050406030204" pitchFamily="18" charset="0"/>
                      </a:endParaRPr>
                    </a:p>
                    <a:p>
                      <a:endParaRPr lang="en-US" sz="1300" b="0" i="1" dirty="0">
                        <a:solidFill>
                          <a:schemeClr val="tx1"/>
                        </a:solidFill>
                        <a:latin typeface="Cambria" panose="02040503050406030204" pitchFamily="18" charset="0"/>
                        <a:ea typeface="Cambria" panose="02040503050406030204" pitchFamily="18" charset="0"/>
                      </a:endParaRPr>
                    </a:p>
                    <a:p>
                      <a:endParaRPr lang="en-US" sz="1300" b="0" i="1" dirty="0">
                        <a:solidFill>
                          <a:schemeClr val="tx1"/>
                        </a:solidFill>
                        <a:latin typeface="Cambria" panose="02040503050406030204" pitchFamily="18" charset="0"/>
                        <a:ea typeface="Cambria" panose="02040503050406030204" pitchFamily="18" charset="0"/>
                      </a:endParaRPr>
                    </a:p>
                    <a:p>
                      <a:endParaRPr lang="en-US" sz="1300" b="0" i="1" dirty="0">
                        <a:solidFill>
                          <a:schemeClr val="tx1"/>
                        </a:solidFill>
                        <a:latin typeface="Cambria" panose="02040503050406030204" pitchFamily="18" charset="0"/>
                        <a:ea typeface="Cambria" panose="02040503050406030204" pitchFamily="18" charset="0"/>
                      </a:endParaRPr>
                    </a:p>
                    <a:p>
                      <a:r>
                        <a:rPr lang="en-US" sz="1300" b="0" i="1" dirty="0">
                          <a:solidFill>
                            <a:schemeClr val="tx1"/>
                          </a:solidFill>
                          <a:latin typeface="Cambria" panose="02040503050406030204" pitchFamily="18" charset="0"/>
                          <a:ea typeface="Cambria" panose="02040503050406030204" pitchFamily="18" charset="0"/>
                        </a:rPr>
                        <a:t>Date:</a:t>
                      </a:r>
                      <a:endParaRPr lang="vi-VN" sz="1300" b="0" i="1" dirty="0">
                        <a:solidFill>
                          <a:schemeClr val="tx1"/>
                        </a:solidFill>
                        <a:latin typeface="Cambria" panose="02040503050406030204" pitchFamily="18" charset="0"/>
                        <a:ea typeface="Cambria" panose="02040503050406030204" pitchFamily="18" charset="0"/>
                      </a:endParaRPr>
                    </a:p>
                  </a:txBody>
                  <a:tcPr>
                    <a:noFill/>
                  </a:tcPr>
                </a:tc>
                <a:extLst>
                  <a:ext uri="{0D108BD9-81ED-4DB2-BD59-A6C34878D82A}">
                    <a16:rowId xmlns:a16="http://schemas.microsoft.com/office/drawing/2014/main" val="2651226452"/>
                  </a:ext>
                </a:extLst>
              </a:tr>
            </a:tbl>
          </a:graphicData>
        </a:graphic>
      </p:graphicFrame>
    </p:spTree>
    <p:extLst>
      <p:ext uri="{BB962C8B-B14F-4D97-AF65-F5344CB8AC3E}">
        <p14:creationId xmlns:p14="http://schemas.microsoft.com/office/powerpoint/2010/main" val="2396111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587</Words>
  <Application>Microsoft Office PowerPoint</Application>
  <PresentationFormat>On-screen Show (4:3)</PresentationFormat>
  <Paragraphs>47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Cambria</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KAYONDO ABASS</cp:lastModifiedBy>
  <cp:revision>16</cp:revision>
  <dcterms:created xsi:type="dcterms:W3CDTF">2025-05-17T04:01:25Z</dcterms:created>
  <dcterms:modified xsi:type="dcterms:W3CDTF">2026-05-27T13:24:25Z</dcterms:modified>
</cp:coreProperties>
</file>